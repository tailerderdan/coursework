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9" r:id="rId3"/>
    <p:sldId id="262" r:id="rId4"/>
    <p:sldId id="291" r:id="rId5"/>
    <p:sldId id="293" r:id="rId6"/>
    <p:sldId id="361" r:id="rId7"/>
    <p:sldId id="257" r:id="rId8"/>
    <p:sldId id="274" r:id="rId9"/>
    <p:sldId id="370" r:id="rId10"/>
    <p:sldId id="261" r:id="rId11"/>
    <p:sldId id="277" r:id="rId12"/>
    <p:sldId id="288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2" r:id="rId22"/>
    <p:sldId id="37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2" autoAdjust="0"/>
    <p:restoredTop sz="78620" autoAdjust="0"/>
  </p:normalViewPr>
  <p:slideViewPr>
    <p:cSldViewPr snapToGrid="0">
      <p:cViewPr>
        <p:scale>
          <a:sx n="112" d="100"/>
          <a:sy n="112" d="100"/>
        </p:scale>
        <p:origin x="1568" y="3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56F33-5F4D-46C4-A8BB-D07164954715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81375-6557-4E99-B828-A55D2FED02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619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Уважаемые участники конференции вашему вниманию предоставляется доклад о Планировании движении роботов в реальном времени студента 2 курса института </a:t>
            </a:r>
            <a:r>
              <a:rPr lang="ru-RU" dirty="0" err="1"/>
              <a:t>айспринг</a:t>
            </a:r>
            <a:r>
              <a:rPr lang="ru-RU" dirty="0"/>
              <a:t> Козлова Антона Александровича.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81375-6557-4E99-B828-A55D2FED029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986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Какой контекст у задачи. На некотором ограниченном, прямоугольном поле находятся роботы. Все роботы одинаковы и могут перемещаться по этому полю во всех направлениях. Требуется обеспечить движение роботов к конечным точкам, избежав столкновения с препятствиями.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81375-6557-4E99-B828-A55D2FED02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68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DWA</a:t>
            </a:r>
          </a:p>
          <a:p>
            <a:endParaRPr lang="en-US" dirty="0"/>
          </a:p>
          <a:p>
            <a:r>
              <a:rPr lang="ru-RU" dirty="0"/>
              <a:t>Его главная суть, что мы просчитываем все возможные комбинации линейной и угловой скорости </a:t>
            </a:r>
            <a:br>
              <a:rPr lang="en-US" dirty="0"/>
            </a:br>
            <a:r>
              <a:rPr lang="ru-RU" dirty="0"/>
              <a:t>в очень малый промежуток времени, что позволяет быстро просчитывать путь в локальной области. </a:t>
            </a:r>
            <a:endParaRPr lang="en-US" dirty="0"/>
          </a:p>
          <a:p>
            <a:r>
              <a:rPr lang="ru-RU" dirty="0"/>
              <a:t>Минусы этого алгоритма в следовании не минимальному пути, а также в невозможности реагировать на динамические препятствия.</a:t>
            </a:r>
            <a:endParaRPr lang="en-US" dirty="0"/>
          </a:p>
          <a:p>
            <a:endParaRPr lang="en-US" dirty="0"/>
          </a:p>
          <a:p>
            <a:r>
              <a:rPr lang="en-US" dirty="0"/>
              <a:t>D-MPCC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 его помощью можно просчитывать путь на </a:t>
            </a:r>
            <a:r>
              <a:rPr lang="en" dirty="0"/>
              <a:t>N </a:t>
            </a:r>
            <a:r>
              <a:rPr lang="ru-RU" dirty="0"/>
              <a:t>шагов вперед, учитывая других роботов, опираясь на опорный путь. Минусы этого алгоритма в том его сложной вычислительной составляющей. На каждом шаге робота мы вынуждены решать большую систему из несколько десятков уравнений, а также приводить ее к такому виду через вычисление матриц производных из нескольких тысяч строк и столбцов.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81375-6557-4E99-B828-A55D2FED029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349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7A22-1803-C4FB-79C1-42F74B5E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4D29AFC-690A-BE6E-5799-9439F992E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C66075-8210-C553-DE27-672C195C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7CC02C-6B69-D139-5653-A68EBFF8C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81375-6557-4E99-B828-A55D2FED029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37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DDC5-8087-4691-D5DF-3EF9B851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6404443-FE3A-28BC-9395-9F3FC047F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E3EAAD-2359-C673-37B0-4F92C1F3F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108D83-7569-3DCE-DD78-816065D53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81375-6557-4E99-B828-A55D2FED029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82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42CE-4E34-1B4B-9C5F-77814E01820D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CABD5-C3DC-9443-AAFB-5CDAD343247C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6989" y="6311898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9D03F016-83BD-4E70-8719-6FB82F4E2A4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586B-3C44-964B-B4FE-FE41C9B6668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698" y="6312805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9D03F016-83BD-4E70-8719-6FB82F4E2A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23E2-F7FA-EC42-B93B-24DD9E0FA644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705" y="6312805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9D03F016-83BD-4E70-8719-6FB82F4E2A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D5AD8-9994-1241-B3AF-49FF117D3E07}" type="datetime1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701" y="6312805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9D03F016-83BD-4E70-8719-6FB82F4E2A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C74A0-7113-4D4C-9A09-B55FE2F9DA0F}" type="datetime1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5705" y="6304096"/>
            <a:ext cx="2743200" cy="365125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fld id="{9D03F016-83BD-4E70-8719-6FB82F4E2A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E0B1A-B47E-3640-A52A-543F400910E3}" type="datetime1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4356-BB13-FD4E-92AF-039EC7E9FF93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B9462-D0E1-234C-B9BF-EB897A19EA90}" type="datetime1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AF710-D751-0F44-BD34-0F569A4DD838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ACED-D2B3-F146-AB27-77525C9C5D02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23A8A-C965-DC48-98B1-87C0D2E3A52B}" type="datetime1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7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223" userDrawn="1">
          <p15:clr>
            <a:srgbClr val="F26B43"/>
          </p15:clr>
        </p15:guide>
        <p15:guide id="4" orient="horz" pos="1457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orient="horz" pos="459" userDrawn="1">
          <p15:clr>
            <a:srgbClr val="F26B43"/>
          </p15:clr>
        </p15:guide>
        <p15:guide id="8" pos="665" userDrawn="1">
          <p15:clr>
            <a:srgbClr val="F26B43"/>
          </p15:clr>
        </p15:guide>
        <p15:guide id="9" pos="7015" userDrawn="1">
          <p15:clr>
            <a:srgbClr val="F26B43"/>
          </p15:clr>
        </p15:guide>
        <p15:guide id="10" orient="horz" pos="1094" userDrawn="1">
          <p15:clr>
            <a:srgbClr val="F26B43"/>
          </p15:clr>
        </p15:guide>
        <p15:guide id="11" orient="horz" pos="386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955EB-07EA-A618-5BD6-A23E49C79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687" y="1736725"/>
            <a:ext cx="10080625" cy="1692274"/>
          </a:xfrm>
        </p:spPr>
        <p:txBody>
          <a:bodyPr>
            <a:normAutofit/>
          </a:bodyPr>
          <a:lstStyle/>
          <a:p>
            <a:r>
              <a:rPr lang="ru-RU" sz="5000" dirty="0"/>
              <a:t>Планирование движения роботов в реальном времени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Козлов Антон Александрович</a:t>
            </a:r>
          </a:p>
          <a:p>
            <a:pPr algn="l"/>
            <a:r>
              <a:rPr lang="ru-RU" dirty="0"/>
              <a:t>Руководитель: доцент, кандидат </a:t>
            </a:r>
            <a:r>
              <a:rPr lang="ru-RU" dirty="0" err="1"/>
              <a:t>физ</a:t>
            </a:r>
            <a:r>
              <a:rPr lang="ru-RU" dirty="0"/>
              <a:t>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Формулировка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31CA5-7026-0B76-A8C7-C1EDB1DE4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7" y="1747749"/>
            <a:ext cx="10080625" cy="135844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На некотором поле находятся роботы. Требуется обеспечить движение роботов по оптимальному пути к конечным точкам, не столкнувшись</a:t>
            </a:r>
            <a:br>
              <a:rPr lang="en-US" sz="2400" dirty="0"/>
            </a:br>
            <a:r>
              <a:rPr lang="ru-RU" sz="2400" dirty="0"/>
              <a:t>с препятствиями.</a:t>
            </a:r>
          </a:p>
        </p:txBody>
      </p:sp>
      <p:pic>
        <p:nvPicPr>
          <p:cNvPr id="7" name="Рисунок 6" descr="Изображение выглядит как текст, снимок экрана, Прямоугольн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7A48178-271F-F909-7C93-A1BAB12DA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458" y="3106195"/>
            <a:ext cx="4323601" cy="3023143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CDA0D9-61D3-0EC5-D4CA-7AC1EA0F8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2E1678-DE54-C589-8605-47B84DF81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5688" y="1738333"/>
                <a:ext cx="10080625" cy="438850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400" dirty="0"/>
                  <a:t>Поле разделено 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квадратных ячеек.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400" dirty="0"/>
                  <a:t>Препятствия подразделяются на статические и динамические.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400" dirty="0"/>
                  <a:t>Динамические препятствия – другие роботы.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400" dirty="0"/>
                  <a:t>Линейная скорость робота выражена константой.</a:t>
                </a:r>
              </a:p>
              <a:p>
                <a:pPr marL="457200" indent="-457200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ru-RU" sz="2400" dirty="0"/>
                  <a:t>Цель алгоритма – обеспечить следование эталонному пути, исключить столкновения с препятствиями.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12E1678-DE54-C589-8605-47B84DF81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5688" y="1738333"/>
                <a:ext cx="10080625" cy="4388508"/>
              </a:xfrm>
              <a:blipFill>
                <a:blip r:embed="rId2"/>
                <a:stretch>
                  <a:fillRect l="-967" t="-1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AE7577C-8496-B490-E3B8-C5544783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Конкретизация задачи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78BBC6-A9B1-EA38-A455-71599DFC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1FAC4FF-0189-8E25-81A5-2F65EA95F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0449" y="1736725"/>
            <a:ext cx="9896021" cy="140368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Исследование и программная реализация алгоритма нахождения оптимальной траектории для каждого робота, учитывающего статические и динамические препятствия.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F267D60-23CC-0922-57EE-318935E05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Цель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2FCB13-D8CC-137E-1FE3-CC594CE8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1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52" y="1747252"/>
            <a:ext cx="10072461" cy="483603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Провести анализ существующих алгоритмов и подходов к решению</a:t>
            </a:r>
            <a:br>
              <a:rPr lang="en-US" sz="2400" dirty="0"/>
            </a:br>
            <a:r>
              <a:rPr lang="ru-RU" sz="2400" dirty="0"/>
              <a:t>задачи поиска оптимальной траектории для роботов</a:t>
            </a:r>
            <a:r>
              <a:rPr lang="ru-RU" dirty="0"/>
              <a:t>.</a:t>
            </a:r>
            <a:r>
              <a:rPr lang="ru-RU" sz="2400" dirty="0"/>
              <a:t> 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Обосновать корректность и сложность выбранного алгоритма.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2400" dirty="0"/>
              <a:t>Написать приложение, реализующее выбранный алгоритм.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F6F3FB7-D67E-338E-EC9C-0B8F2B4B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Задачи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D513A58-4448-6E69-B82B-10E4D891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07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52" y="1736725"/>
            <a:ext cx="10072461" cy="450894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ru-RU" sz="2400" dirty="0"/>
              <a:t>Протестировать приложение на реальных данных.</a:t>
            </a:r>
          </a:p>
          <a:p>
            <a:pPr marL="457200" indent="-4572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ru-RU" sz="2400" dirty="0"/>
              <a:t>Разработать графический интерфейс для удобства</a:t>
            </a:r>
            <a:br>
              <a:rPr lang="ru-RU" sz="2400" dirty="0"/>
            </a:br>
            <a:r>
              <a:rPr lang="ru-RU" sz="2400" dirty="0"/>
              <a:t>использования программы.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F461265-0059-2175-A22D-6E6A6C0F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Задачи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C26D91-8CCF-5FCF-C1C0-E284184D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7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6CA-C406-DB7D-47B2-4B1BCAA6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6"/>
            <a:ext cx="10080625" cy="1692274"/>
          </a:xfrm>
        </p:spPr>
        <p:txBody>
          <a:bodyPr>
            <a:normAutofit/>
          </a:bodyPr>
          <a:lstStyle/>
          <a:p>
            <a:r>
              <a:rPr lang="ru-RU" sz="5000" dirty="0"/>
              <a:t>Обзор существующих алгоритмов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F8150D-C5CE-B778-E619-2313A30BF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3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87224328"/>
                  </p:ext>
                </p:extLst>
              </p:nvPr>
            </p:nvGraphicFramePr>
            <p:xfrm>
              <a:off x="1063852" y="1736723"/>
              <a:ext cx="10072461" cy="28472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92071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313649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4243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600664"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Сложность </a:t>
                          </a:r>
                          <a:r>
                            <a:rPr lang="en-US" sz="2400" dirty="0"/>
                            <a:t>Big-O 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00664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DWA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 err="1"/>
                            <a:t>Аппроксимационный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𝑉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𝑊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600664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D-MPCC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 err="1"/>
                            <a:t>Аппроксимационный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en-US" sz="24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∙</m:t>
                                        </m:r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35898467"/>
                      </a:ext>
                    </a:extLst>
                  </a:tr>
                  <a:tr h="600664"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Упрощенный </a:t>
                          </a:r>
                          <a:br>
                            <a:rPr lang="ru-RU" sz="2400" dirty="0"/>
                          </a:br>
                          <a:r>
                            <a:rPr lang="en-US" sz="2400" dirty="0"/>
                            <a:t>D-MPCC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𝑞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func>
                                  <m:funcPr>
                                    <m:ctrlPr>
                                      <a:rPr lang="en-US" sz="24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 b="0" i="0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+mn-cs"/>
                                          </a:rPr>
                                          <m:t>∙</m:t>
                                        </m:r>
                                        <m:r>
                                          <a:rPr lang="en-US" sz="2400" b="0" i="1" kern="1200" dirty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𝑁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∙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𝑚</m:t>
                                </m:r>
                                <m:r>
                                  <a:rPr lang="en-US" sz="24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0540813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87224328"/>
                  </p:ext>
                </p:extLst>
              </p:nvPr>
            </p:nvGraphicFramePr>
            <p:xfrm>
              <a:off x="1063852" y="1736723"/>
              <a:ext cx="10072461" cy="284724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92071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313649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4243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Сложность </a:t>
                          </a:r>
                          <a:r>
                            <a:rPr lang="en-US" sz="2400" dirty="0"/>
                            <a:t>Big-O 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00664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DWA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 err="1"/>
                            <a:t>Аппроксимационный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015" t="-143750" r="-299" b="-25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600664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D-MPCC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 err="1"/>
                            <a:t>Аппроксимационный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015" t="-248936" r="-299" b="-1638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589846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Упрощенный </a:t>
                          </a:r>
                          <a:br>
                            <a:rPr lang="ru-RU" sz="2400" dirty="0"/>
                          </a:br>
                          <a:r>
                            <a:rPr lang="en-US" sz="2400" dirty="0"/>
                            <a:t>D-MPCC</a:t>
                          </a:r>
                          <a:endParaRPr lang="ru-RU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2400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7015" t="-252308" r="-299" b="-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54081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DEA83D63-74A8-86E9-BF99-B28AA0068387}"/>
              </a:ext>
            </a:extLst>
          </p:cNvPr>
          <p:cNvSpPr txBox="1">
            <a:spLocks/>
          </p:cNvSpPr>
          <p:nvPr/>
        </p:nvSpPr>
        <p:spPr>
          <a:xfrm>
            <a:off x="1063852" y="731159"/>
            <a:ext cx="10080625" cy="784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Рассматриваемые алгоритмы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14B8B27-477F-5EDB-564F-6D63CE0C1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565FA-4F6B-924D-C317-699B15849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B5B89-8B28-3AF4-D35F-86EBD8E01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1736726"/>
            <a:ext cx="10080625" cy="1692274"/>
          </a:xfrm>
        </p:spPr>
        <p:txBody>
          <a:bodyPr>
            <a:normAutofit/>
          </a:bodyPr>
          <a:lstStyle/>
          <a:p>
            <a:r>
              <a:rPr lang="ru-RU" sz="5000" dirty="0"/>
              <a:t>Упрощенный </a:t>
            </a:r>
            <a:r>
              <a:rPr lang="en-US" sz="5000" dirty="0"/>
              <a:t>D-MPCC</a:t>
            </a:r>
            <a:endParaRPr lang="ru-RU" sz="5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5B785A-FA65-5847-D765-BC20634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68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8633" y="1736689"/>
                <a:ext cx="5490164" cy="3989613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Плоскость разбивается на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2400" dirty="0"/>
                  <a:t> квадратных ячеек.</a:t>
                </a:r>
                <a:endParaRPr lang="en-US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Каждый центр является вершиной графа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ru-RU" sz="2400" dirty="0"/>
                  <a:t>.</a:t>
                </a:r>
                <a:endParaRPr lang="en-US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каждого робота заданы начальная и конечная вершина</a:t>
                </a:r>
                <a:br>
                  <a:rPr lang="ru-RU" sz="2400" dirty="0"/>
                </a:br>
                <a:r>
                  <a:rPr lang="ru-RU" sz="2400" dirty="0"/>
                  <a:t>графа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8633" y="1736689"/>
                <a:ext cx="5490164" cy="3989613"/>
              </a:xfrm>
              <a:blipFill>
                <a:blip r:embed="rId2"/>
                <a:stretch>
                  <a:fillRect l="-1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5A9E91A-E922-2753-FFBA-EB40E517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Математическая модель</a:t>
            </a:r>
          </a:p>
        </p:txBody>
      </p:sp>
      <p:pic>
        <p:nvPicPr>
          <p:cNvPr id="2" name="Объект 11">
            <a:extLst>
              <a:ext uri="{FF2B5EF4-FFF2-40B4-BE49-F238E27FC236}">
                <a16:creationId xmlns:a16="http://schemas.microsoft.com/office/drawing/2014/main" id="{57CB4480-4B95-AF58-4A60-7D2FCBCDC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97" y="1703953"/>
            <a:ext cx="4696523" cy="328389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7EF691-CECB-FEB8-5354-44D8F021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6A6B241-AA3E-942F-EEDF-0E7B669FE535}"/>
              </a:ext>
            </a:extLst>
          </p:cNvPr>
          <p:cNvSpPr txBox="1"/>
          <p:nvPr/>
        </p:nvSpPr>
        <p:spPr>
          <a:xfrm>
            <a:off x="1063852" y="1736725"/>
            <a:ext cx="5032148" cy="1839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ru-RU" sz="2400" dirty="0"/>
              <a:t>Считаем, что статические препятствия занимают</a:t>
            </a:r>
            <a:br>
              <a:rPr lang="ru-RU" sz="2400" dirty="0"/>
            </a:br>
            <a:r>
              <a:rPr lang="ru-RU" sz="2400" dirty="0"/>
              <a:t>все пересекаемые</a:t>
            </a:r>
            <a:br>
              <a:rPr lang="ru-RU" sz="2400" dirty="0"/>
            </a:br>
            <a:r>
              <a:rPr lang="ru-RU" sz="2400" dirty="0"/>
              <a:t>квадраты целиком.</a:t>
            </a:r>
            <a:endParaRPr lang="ru-RU" sz="3200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5E6281FA-AF09-E53E-22DE-55FB2ACC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Статические препятствия</a:t>
            </a: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2832895B-189A-6545-8C21-AFC3C843E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97" y="1703953"/>
            <a:ext cx="4696523" cy="3283897"/>
          </a:xfrm>
          <a:prstGeom prst="rect">
            <a:avLst/>
          </a:prstGeom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03AB6F-0065-3962-0E9B-CF8286D0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5B9580C5-931E-9194-CBE4-CE7585C3A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633" y="1736689"/>
            <a:ext cx="10077680" cy="39896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Эталонный путь робота – кратчайший путь на графе от начальной</a:t>
            </a:r>
            <a:br>
              <a:rPr lang="ru-RU" sz="2400" dirty="0"/>
            </a:br>
            <a:r>
              <a:rPr lang="ru-RU" sz="2400" dirty="0"/>
              <a:t>до конечной точки.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Путь может быть найден любым известным алгоритмом на графах, </a:t>
            </a:r>
            <a:br>
              <a:rPr lang="ru-RU" sz="2400" dirty="0"/>
            </a:br>
            <a:r>
              <a:rPr lang="ru-RU" sz="2400" dirty="0"/>
              <a:t>для простоты будем использовать алгоритм Дейкстры.</a:t>
            </a: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ru-RU" sz="2400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E08477D-C6B8-41B9-0D31-77A30D409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Эталонный путь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AE69463-01F1-BB90-CE74-FEE690BE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95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E7A9-D234-913B-CA3D-7414D14C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0F1C0DEE-A53D-7C02-843A-AB4784BE1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53" y="1736689"/>
            <a:ext cx="10072459" cy="1692311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Для работы алгоритма необходимо сглаживать путь во время движения для нахождения производных.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D82D3E-F563-49E9-5473-C646989C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64" y="2842591"/>
            <a:ext cx="6502400" cy="2806700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5CFC28E-28F5-0843-343D-B445967B5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Эталонный путь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5A5124-6880-B0D3-579B-3736797F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7211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7BD2-082B-DAE9-381C-6CDFF66F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F129B4E3-C721-0857-07E3-C21E5F5FF7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4" y="1736689"/>
                <a:ext cx="5017352" cy="300427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Во время движения робота нужно исключить все столкновение</a:t>
                </a:r>
                <a:br>
                  <a:rPr lang="ru-RU" sz="2400" dirty="0"/>
                </a:br>
                <a:r>
                  <a:rPr lang="ru-RU" sz="2400" dirty="0"/>
                  <a:t>с другими роботами. Для проверки столкновения используется условие нахождения точки внутри эллипса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𝑜𝑏𝑠𝑡</m:t>
                        </m:r>
                      </m:sup>
                    </m:sSubSup>
                    <m:d>
                      <m:dPr>
                        <m:ctrlPr>
                          <a:rPr lang="ru-RU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ru-RU" sz="2400" i="1">
                        <a:latin typeface="Cambria Math" panose="02040503050406030204" pitchFamily="18" charset="0"/>
                      </a:rPr>
                      <m:t>&gt;1.</m:t>
                    </m:r>
                  </m:oMath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F129B4E3-C721-0857-07E3-C21E5F5FF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4" y="1736689"/>
                <a:ext cx="5017352" cy="3004276"/>
              </a:xfrm>
              <a:blipFill>
                <a:blip r:embed="rId2"/>
                <a:stretch>
                  <a:fillRect l="-1944" r="-2795" b="-34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 descr="Изображение выглядит как текст, диаграмма, План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5FC65A-6FBC-1753-8AF9-501EC57A7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796" y="1638773"/>
            <a:ext cx="5159367" cy="2700337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B20B016-6573-C7B0-6640-485523F3B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Динамические препятствия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9B2068-91B9-A3E0-1BA8-F36F9107711B}"/>
                  </a:ext>
                </a:extLst>
              </p:cNvPr>
              <p:cNvSpPr txBox="1"/>
              <p:nvPr/>
            </p:nvSpPr>
            <p:spPr>
              <a:xfrm>
                <a:off x="1058998" y="5249044"/>
                <a:ext cx="10064294" cy="885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func>
                                    <m:func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𝑐𝑜𝑠</m:t>
                                      </m:r>
                                    </m:fName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func>
                                    <m:func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</m:fName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func>
                                    <m:func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</m:fName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𝛥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func>
                                    <m:func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𝑐𝑜𝑠</m:t>
                                      </m:r>
                                    </m:fName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 + </m:t>
                                  </m:r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sz="2400" i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9B2068-91B9-A3E0-1BA8-F36F91077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98" y="5249044"/>
                <a:ext cx="10064294" cy="8856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A14134-0349-D76B-9D80-3BAA22B9C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67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CB342-3649-7621-700E-A01111AE1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A14A8733-8239-59A9-012E-B56FD82DD5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Итоговой задачей для каждого робота является оптимизация функции стоимости 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𝛼</m:t>
                      </m:r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𝑡𝑟𝑎𝑐𝑘𝑖𝑛𝑔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sz="2400" i="1">
                          <a:latin typeface="Cambria Math" panose="02040503050406030204" pitchFamily="18" charset="0"/>
                        </a:rPr>
                        <m:t>𝛽</m:t>
                      </m:r>
                      <m:sSubSup>
                        <m:sSubSup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𝑟𝑒𝑝𝑢𝑙𝑠𝑖𝑣𝑒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𝑡𝑟𝑎𝑐𝑘𝑖𝑛𝑔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– функция, отвечающая за отклонение робота</a:t>
                </a:r>
                <a:br>
                  <a:rPr lang="ru-RU" sz="2400" dirty="0"/>
                </a:br>
                <a:r>
                  <a:rPr lang="ru-RU" sz="2400" dirty="0"/>
                  <a:t>от намеченной траектории,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𝑟𝑒𝑝𝑢𝑙𝑠𝑖𝑣𝑒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– отвечающая за предиктивное столкновение</a:t>
                </a:r>
                <a:br>
                  <a:rPr lang="ru-RU" sz="2400" dirty="0"/>
                </a:br>
                <a:r>
                  <a:rPr lang="ru-RU" sz="2400" dirty="0"/>
                  <a:t>между роботами.</a:t>
                </a:r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A14A8733-8239-59A9-012E-B56FD82DD5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3EAB712-235D-C39B-0A76-4AA3A2A0E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стоимости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ED49CF-10BD-024A-9859-477E7C4B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5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2E32-25CC-B8BA-9181-E818135F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1A12644F-B6A4-11C2-A1E0-7C172E69F9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минимизации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ru-RU" sz="240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ru-RU" sz="2400" dirty="0"/>
                  <a:t> будем считать, что планируемый путь</a:t>
                </a:r>
                <a:br>
                  <a:rPr lang="en-US" sz="2400" dirty="0"/>
                </a:br>
                <a:r>
                  <a:rPr lang="ru-RU" sz="2400" dirty="0"/>
                  <a:t>в каждой точке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зависит только от вектора поворота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1A12644F-B6A4-11C2-A1E0-7C172E69F9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C696C61-7AB6-92C6-868A-24D78A68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стоимости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5365C2-9EA1-A751-0577-AAF129C25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11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89FB1-C216-8319-1BF0-3923763F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604199E6-347F-51AC-415F-6C193CC672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3" y="1736689"/>
                <a:ext cx="10072459" cy="446532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Во время движения робота необходимо учитывать условие</a:t>
                </a:r>
                <a:br>
                  <a:rPr lang="ru-RU" sz="2400" dirty="0"/>
                </a:br>
                <a:r>
                  <a:rPr lang="ru-RU" sz="2400" dirty="0"/>
                  <a:t>исключающее столкновение с другими роботами.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Итоговая функция минимизации</a:t>
                </a:r>
                <a:endParaRPr lang="en-US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max</m:t>
                          </m:r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0,1−</m:t>
                                  </m:r>
                                  <m:sSubSup>
                                    <m:sSubSup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𝑜𝑏𝑠𝑡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ru-RU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u-RU" sz="24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нахождения минимума будем искать вектор градиента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400"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rad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d>
                      <m:d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ru-RU" sz="2400" dirty="0"/>
                  <a:t>.</a:t>
                </a:r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604199E6-347F-51AC-415F-6C193CC672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3" y="1736689"/>
                <a:ext cx="10072459" cy="4465328"/>
              </a:xfr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DC35762-FFAC-1DC8-AACF-5744B1AE2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стоимости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0CB511-FAC0-38B3-D0BC-47C5DE90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4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412C7-358F-5264-0541-CCD570F7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FBAF4860-6170-1DCF-A413-66D844A6F5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Для данной функции будем использовать метод градиентного спуска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grad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e>
                                </m:mr>
                                <m:mr>
                                  <m:e>
                                    <m:sSubSup>
                                      <m:sSubSupPr>
                                        <m:ctrlP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ru-RU" sz="2400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sub>
                                      <m:sup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bSup>
                                  </m:e>
                                </m:mr>
                              </m:m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Градиент будем находить методом конечных разностей по схеме центральной разности.</a:t>
                </a:r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FBAF4860-6170-1DCF-A413-66D844A6F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  <a:blipFill>
                <a:blip r:embed="rId2"/>
                <a:stretch>
                  <a:fillRect l="-100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52EC1D4-B313-DA1A-BB31-22E8A9F6E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стоимости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289ABE4-497A-6484-6C6F-810AE1B2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738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8993-B666-4D83-15FB-23929C691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5F2ABCC6-76BE-980C-714D-E71DF20E17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2400" dirty="0"/>
                  <a:t>По теореме о сходимости метода градиентного спуска</a:t>
                </a:r>
                <a:br>
                  <a:rPr lang="ru-RU" sz="2400" dirty="0"/>
                </a:br>
                <a:r>
                  <a:rPr lang="ru-RU" sz="2400" dirty="0"/>
                  <a:t>(для гладких выпуклых функций), справедливо следующая оценка</a:t>
                </a:r>
              </a:p>
              <a:p>
                <a:pPr marL="0" indent="0">
                  <a:lnSpc>
                    <a:spcPct val="13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Объект 2">
                <a:extLst>
                  <a:ext uri="{FF2B5EF4-FFF2-40B4-BE49-F238E27FC236}">
                    <a16:creationId xmlns:a16="http://schemas.microsoft.com/office/drawing/2014/main" id="{5F2ABCC6-76BE-980C-714D-E71DF20E17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3" y="1736689"/>
                <a:ext cx="10072459" cy="4384483"/>
              </a:xfr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D5B2A15-0AEC-8B0D-7681-7290F11BC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852" y="731159"/>
            <a:ext cx="10080625" cy="784452"/>
          </a:xfrm>
        </p:spPr>
        <p:txBody>
          <a:bodyPr>
            <a:normAutofit/>
          </a:bodyPr>
          <a:lstStyle/>
          <a:p>
            <a:r>
              <a:rPr lang="ru-RU" sz="3600" dirty="0"/>
              <a:t>Функция стоимости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E87A21F-6FC4-38D2-3155-467C0A91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123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B7B1B-AD5E-2146-FDAE-2C8983E88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5FCAB68-9EB9-3C97-D604-52089B67E600}"/>
              </a:ext>
            </a:extLst>
          </p:cNvPr>
          <p:cNvSpPr txBox="1">
            <a:spLocks/>
          </p:cNvSpPr>
          <p:nvPr/>
        </p:nvSpPr>
        <p:spPr>
          <a:xfrm>
            <a:off x="1063852" y="731159"/>
            <a:ext cx="10080625" cy="784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Упрощенный </a:t>
            </a:r>
            <a:r>
              <a:rPr lang="en-US" sz="3600" dirty="0"/>
              <a:t>D-MPCC</a:t>
            </a:r>
            <a:endParaRPr lang="ru-RU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3A6A2B2-AEF2-ED4F-6D50-B5C70B9B0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3852" y="1736725"/>
                <a:ext cx="10080625" cy="4390116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sz="2400" dirty="0"/>
                  <a:t>Деление пространства 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квадратных ячеек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400" dirty="0"/>
                  <a:t>Построение эталонного пути алгоритмом </a:t>
                </a:r>
                <a:r>
                  <a:rPr lang="ru-RU" sz="2400" dirty="0" err="1"/>
                  <a:t>Дейкстры</a:t>
                </a:r>
                <a:endParaRPr lang="ru-RU" sz="2400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400" dirty="0"/>
                  <a:t>Сглаживание эталонного пути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sz="2400" dirty="0"/>
                  <a:t>На каждом шаге робота</a:t>
                </a:r>
              </a:p>
              <a:p>
                <a:pPr marL="914400" lvl="1" indent="-457200">
                  <a:spcBef>
                    <a:spcPts val="1000"/>
                  </a:spcBef>
                  <a:buFont typeface="+mj-lt"/>
                  <a:buAutoNum type="arabicParenR"/>
                </a:pPr>
                <a:r>
                  <a:rPr lang="ru-RU" dirty="0"/>
                  <a:t>Нахождение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RU" dirty="0"/>
                  <a:t> шагов пути, минимизирующего функцию стоимости по вектору поворота</a:t>
                </a:r>
              </a:p>
              <a:p>
                <a:pPr marL="914400" lvl="1" indent="-457200">
                  <a:spcBef>
                    <a:spcPts val="1000"/>
                  </a:spcBef>
                  <a:buFont typeface="+mj-lt"/>
                  <a:buAutoNum type="arabicParenR"/>
                </a:pPr>
                <a:r>
                  <a:rPr lang="ru-RU" dirty="0"/>
                  <a:t>Продвижение на один просчитанный шаг</a:t>
                </a:r>
              </a:p>
              <a:p>
                <a:pPr marL="914400" lvl="1" indent="-457200">
                  <a:spcBef>
                    <a:spcPts val="1000"/>
                  </a:spcBef>
                  <a:buFont typeface="+mj-lt"/>
                  <a:buAutoNum type="arabicParenR"/>
                </a:pPr>
                <a:r>
                  <a:rPr lang="ru-RU" dirty="0"/>
                  <a:t>Отправление координат всем остальным роботам</a:t>
                </a:r>
              </a:p>
              <a:p>
                <a:pPr marL="914400" lvl="1" indent="-457200">
                  <a:spcBef>
                    <a:spcPts val="1000"/>
                  </a:spcBef>
                  <a:buFont typeface="+mj-lt"/>
                  <a:buAutoNum type="arabicParenR"/>
                </a:pPr>
                <a:r>
                  <a:rPr lang="ru-RU" dirty="0"/>
                  <a:t>Получение координат от остальных роботов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3A6A2B2-AEF2-ED4F-6D50-B5C70B9B0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3852" y="1736725"/>
                <a:ext cx="10080625" cy="4390116"/>
              </a:xfrm>
              <a:blipFill>
                <a:blip r:embed="rId3"/>
                <a:stretch>
                  <a:fillRect l="-1008" t="-23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1BA34FE-04A9-D956-D836-4D5FB16E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64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0A62-BB51-903F-B8BE-EBDDDD53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A25BEB6-80B3-4B14-2D6B-3382B1F167EB}"/>
              </a:ext>
            </a:extLst>
          </p:cNvPr>
          <p:cNvSpPr txBox="1">
            <a:spLocks/>
          </p:cNvSpPr>
          <p:nvPr/>
        </p:nvSpPr>
        <p:spPr>
          <a:xfrm>
            <a:off x="1063852" y="731159"/>
            <a:ext cx="10080625" cy="784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82C4BA-5E12-70B1-FE78-71E3A6143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52" y="1736725"/>
            <a:ext cx="10080625" cy="43901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" sz="2400" dirty="0"/>
              <a:t>Xin J. et al. Distributed model predictive contouring control for real-time multi-robot motion planning //Complex System Modeling and Simulation. – 2022. – </a:t>
            </a:r>
            <a:r>
              <a:rPr lang="ru-RU" sz="2400" dirty="0"/>
              <a:t>Т. 2. – №. 4. – С. 273-287.</a:t>
            </a:r>
            <a:endParaRPr lang="en" sz="2400" dirty="0"/>
          </a:p>
          <a:p>
            <a:pPr marL="514350" indent="-514350">
              <a:buFont typeface="+mj-lt"/>
              <a:buAutoNum type="arabicPeriod"/>
            </a:pPr>
            <a:r>
              <a:rPr lang="en" sz="2400" dirty="0"/>
              <a:t>Fox D., Burgard W., Thrun S. The dynamic window approach to collision avoidance //IEEE robotics &amp; automation magazine. – 2002. – </a:t>
            </a:r>
            <a:r>
              <a:rPr lang="ru-RU" sz="2400" dirty="0"/>
              <a:t>Т. 4. – №. 1. – С. 23-33.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" sz="2400" dirty="0"/>
              <a:t>Diehl M. Real-time optimization for large scale nonlinear processes : </a:t>
            </a:r>
            <a:r>
              <a:rPr lang="ru-RU" sz="2400" dirty="0" err="1"/>
              <a:t>дис</a:t>
            </a:r>
            <a:r>
              <a:rPr lang="ru-RU" sz="2400" dirty="0"/>
              <a:t>. – 2001.</a:t>
            </a:r>
          </a:p>
          <a:p>
            <a:pPr marL="514350" indent="-514350">
              <a:buFont typeface="+mj-lt"/>
              <a:buAutoNum type="arabicPeriod"/>
            </a:pPr>
            <a:r>
              <a:rPr lang="en" sz="2400" dirty="0"/>
              <a:t>Houska B., </a:t>
            </a:r>
            <a:r>
              <a:rPr lang="en" sz="2400" dirty="0" err="1"/>
              <a:t>Ferreau</a:t>
            </a:r>
            <a:r>
              <a:rPr lang="en" sz="2400" dirty="0"/>
              <a:t> H. J., Diehl M. ACADO toolkit—An open‐source framework for automatic control and dynamic optimization //Optimal control applications and methods. – 2011. – </a:t>
            </a:r>
            <a:r>
              <a:rPr lang="ru-RU" sz="2400" dirty="0"/>
              <a:t>Т. 32. – №. 3. – С. 298-312.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C74C6E6-2C56-C166-D6FB-3756509A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782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0EDC-5365-051B-5715-1E085E7F0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C434C-5A3B-A354-C1BC-7DFAAA9D1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5687" y="1736725"/>
            <a:ext cx="10080625" cy="1692274"/>
          </a:xfrm>
        </p:spPr>
        <p:txBody>
          <a:bodyPr>
            <a:normAutofit/>
          </a:bodyPr>
          <a:lstStyle/>
          <a:p>
            <a:r>
              <a:rPr lang="ru-RU" sz="5000" dirty="0"/>
              <a:t>Планирование движения роботов в реальном времени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7A3E4E-5130-6E98-87CB-F0BCF2B0E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0767" y="3947823"/>
            <a:ext cx="6736125" cy="185698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dirty="0"/>
              <a:t>Выполнил: студент группы ПС–21 очной формы обучения Козлов Антон Александрович</a:t>
            </a:r>
          </a:p>
          <a:p>
            <a:pPr algn="l"/>
            <a:r>
              <a:rPr lang="ru-RU" dirty="0"/>
              <a:t>Руководитель: доцент, кандидат </a:t>
            </a:r>
            <a:r>
              <a:rPr lang="ru-RU" dirty="0" err="1"/>
              <a:t>физ</a:t>
            </a:r>
            <a:r>
              <a:rPr lang="ru-RU" dirty="0"/>
              <a:t>-мат наук</a:t>
            </a:r>
            <a:br>
              <a:rPr lang="ru-RU" dirty="0"/>
            </a:br>
            <a:r>
              <a:rPr lang="ru-RU" dirty="0"/>
              <a:t>Козлов Александр Иванович</a:t>
            </a:r>
          </a:p>
        </p:txBody>
      </p:sp>
    </p:spTree>
    <p:extLst>
      <p:ext uri="{BB962C8B-B14F-4D97-AF65-F5344CB8AC3E}">
        <p14:creationId xmlns:p14="http://schemas.microsoft.com/office/powerpoint/2010/main" val="415728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10540</TotalTime>
  <Words>945</Words>
  <Application>Microsoft Macintosh PowerPoint</Application>
  <PresentationFormat>Широкоэкранный</PresentationFormat>
  <Paragraphs>121</Paragraphs>
  <Slides>22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Cambria Math</vt:lpstr>
      <vt:lpstr>Тема Office</vt:lpstr>
      <vt:lpstr>Планирование движения роботов в реальном времени</vt:lpstr>
      <vt:lpstr>Формулировка задачи</vt:lpstr>
      <vt:lpstr>Конкретизация задачи</vt:lpstr>
      <vt:lpstr>Цель</vt:lpstr>
      <vt:lpstr>Задачи</vt:lpstr>
      <vt:lpstr>Задачи</vt:lpstr>
      <vt:lpstr>Обзор существующих алгоритмов</vt:lpstr>
      <vt:lpstr>Презентация PowerPoint</vt:lpstr>
      <vt:lpstr>Упрощенный D-MPCC</vt:lpstr>
      <vt:lpstr>Математическая модель</vt:lpstr>
      <vt:lpstr>Статические препятствия</vt:lpstr>
      <vt:lpstr>Эталонный путь</vt:lpstr>
      <vt:lpstr>Эталонный путь</vt:lpstr>
      <vt:lpstr>Динамические препятствия</vt:lpstr>
      <vt:lpstr>Функция стоимости</vt:lpstr>
      <vt:lpstr>Функция стоимости</vt:lpstr>
      <vt:lpstr>Функция стоимости</vt:lpstr>
      <vt:lpstr>Функция стоимости</vt:lpstr>
      <vt:lpstr>Функция стоимости</vt:lpstr>
      <vt:lpstr>Презентация PowerPoint</vt:lpstr>
      <vt:lpstr>Презентация PowerPoint</vt:lpstr>
      <vt:lpstr>Планирование движения роботов в реальном времени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Расстановка охранников  в художественной галерее</dc:title>
  <dc:creator>Степашка Модняш</dc:creator>
  <cp:lastModifiedBy>Антон Козлов</cp:lastModifiedBy>
  <cp:revision>45</cp:revision>
  <dcterms:created xsi:type="dcterms:W3CDTF">2025-03-02T06:42:24Z</dcterms:created>
  <dcterms:modified xsi:type="dcterms:W3CDTF">2026-04-24T12:40:17Z</dcterms:modified>
</cp:coreProperties>
</file>